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5" r:id="rId8"/>
    <p:sldId id="260" r:id="rId9"/>
    <p:sldId id="266" r:id="rId10"/>
    <p:sldId id="261" r:id="rId11"/>
    <p:sldId id="262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FD3"/>
    <a:srgbClr val="1E20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3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D5B75-5732-42E3-9957-1B8DCAB14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2893C21-F30B-2F98-514E-5AB0E8F79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F050C95-26F0-6EE7-925E-A471E056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8062E36-C002-1E8F-70A0-72A1475D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86AD0F2-36E5-01D6-A134-394CFFD4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154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94095-8CED-44A8-C954-DB9A7A7B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020B4E-A19D-8EDA-260D-2E2DE9966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B56032A-D49A-E695-5D50-4AFB52CC8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EB4BFD9-7BAA-7F58-EFEA-E2FC02B5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964031C-35E7-7F21-1194-85313BEBC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4433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5ADC82-72D2-9650-6544-3FE3A71DF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A2AB043-C330-C18E-034C-CD9101EDE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646124E-F50C-445A-A593-885ED4802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40440D8-5594-ADAC-7756-6D4456F3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BC050B5-819D-2318-4846-7A0BA3BA2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663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E9D740-7CC4-6387-8C70-3F9DC2B3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0118E39-5FDC-0A8E-42AE-1BEED0F41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4D5FC0E-D9D9-90A2-2EF0-F5502CEF3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42263F2-7E27-4156-0CAD-A21A6F8F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43F360F-0003-4124-26BC-BCD52106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029D9FE-A3A7-A953-0EB8-E7C11A3A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292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9A72BF-0F6C-B4AA-C715-F94AB9CD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6CF6398-FB3A-BA7B-EFD8-115149CCB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062BA6D-69F4-8C39-979E-19D210BA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34C73AB-11FD-72A3-5231-DBC4D9165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AAB696ED-BA8E-78EC-22FD-EE728EE32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73505BB-2A2E-A50D-6A66-6E475684B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4D9A8B1-909F-3E3D-E9A7-B9976021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E92F2854-EEC9-1F8A-1ED4-C5B0E14C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997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17CBF3-27AD-0A55-D7A9-8C493D4E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BAAEE23-A93E-F967-33DA-E5B34AE5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9D480351-A7D6-9F0F-FF79-E3F16DCE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F00ACA0-07BA-512D-01BD-6EB1BF50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1844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7239C403-DA0E-BC20-879B-912CD405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ECBEE3AC-E2A3-C094-6258-8DF7D2387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43A5A1A-4660-6186-2BDA-8E47CD59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59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383D84-8940-96A8-D52C-E8CB837D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ECDD4F-0807-E14E-E01E-4515E4861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1867D61-83BA-F611-8EB4-95409776A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F301371-7E86-44B2-93F2-47FE9C4B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FE5C120-DC35-A2BC-3FD3-722EFCB5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70F9E9C-8E98-22AC-ACFC-773CFD48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580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71AD3E-9DF3-000F-A2D7-C8815B0F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2A7E7CED-3336-40EC-ADE8-272B227E41E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CFDEAC4-6605-B2B7-5CAE-E788C932C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C93C0BF-B837-3754-D627-1C52CE679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4B0CE95-F365-48A9-6726-A0144273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445F01E-60CC-E7C7-B189-2B7288EA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6863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1E2BFC-FB4E-ACE9-2A62-D8E8AFB6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611D38A-DBFC-F8EF-1E15-8ABB8D011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6146CAC-A352-C6B8-FA55-2C099357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EF40ADA-F2E2-EC72-E617-24F6817D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CA28ED9-3EC9-33AD-F3BC-D24A0411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337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58C99E24-7E0C-A3CF-B393-F39050670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5EFFB20-624B-6794-E995-89C53BFE8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37F25A1-E0CF-FAC0-261E-E656B550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B442519-CC25-39D5-DA06-98376DFA6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5F86D3A-01C4-9070-7AA6-C603D3F1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593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2DCC566C-CE76-EE66-86F1-5A57BA6F9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s-E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5F50A43-C33C-1AD4-4228-EE932FDF0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s-E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A7627F3-FAD8-D0B9-AFFB-5AF0E776A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D3E92-477F-470C-8011-05654ED74015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F9DC5A2-6762-1416-96EF-073E69241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9C00DE4-F4F1-80A4-2960-ED6B0BE5F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52510-592A-43C0-BFA9-A2D34597962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525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B60F1B60-BCBB-4428-734C-02CE3913DB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Billede 18">
            <a:extLst>
              <a:ext uri="{FF2B5EF4-FFF2-40B4-BE49-F238E27FC236}">
                <a16:creationId xmlns:a16="http://schemas.microsoft.com/office/drawing/2014/main" id="{F50D1E52-26E8-0AE3-F587-015F5D90D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Billede 20">
            <a:extLst>
              <a:ext uri="{FF2B5EF4-FFF2-40B4-BE49-F238E27FC236}">
                <a16:creationId xmlns:a16="http://schemas.microsoft.com/office/drawing/2014/main" id="{3062AEDD-E458-9EE7-686B-9F230022E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9" y="145788"/>
            <a:ext cx="9488261" cy="4070612"/>
          </a:xfrm>
          <a:prstGeom prst="rect">
            <a:avLst/>
          </a:prstGeom>
        </p:spPr>
      </p:pic>
      <p:pic>
        <p:nvPicPr>
          <p:cNvPr id="31" name="Billede 30">
            <a:extLst>
              <a:ext uri="{FF2B5EF4-FFF2-40B4-BE49-F238E27FC236}">
                <a16:creationId xmlns:a16="http://schemas.microsoft.com/office/drawing/2014/main" id="{9C492BEC-D659-61A0-33C2-00F4CD437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939" y="4216399"/>
            <a:ext cx="2829849" cy="2495813"/>
          </a:xfrm>
          <a:prstGeom prst="rect">
            <a:avLst/>
          </a:prstGeom>
        </p:spPr>
      </p:pic>
      <p:pic>
        <p:nvPicPr>
          <p:cNvPr id="33" name="Billede 32">
            <a:extLst>
              <a:ext uri="{FF2B5EF4-FFF2-40B4-BE49-F238E27FC236}">
                <a16:creationId xmlns:a16="http://schemas.microsoft.com/office/drawing/2014/main" id="{65ADD7D2-10CF-6FB9-EEA6-4003E6EFFB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788" y="4146811"/>
            <a:ext cx="6446212" cy="2565401"/>
          </a:xfrm>
          <a:prstGeom prst="rect">
            <a:avLst/>
          </a:prstGeom>
        </p:spPr>
      </p:pic>
      <p:pic>
        <p:nvPicPr>
          <p:cNvPr id="37" name="Billede 36">
            <a:extLst>
              <a:ext uri="{FF2B5EF4-FFF2-40B4-BE49-F238E27FC236}">
                <a16:creationId xmlns:a16="http://schemas.microsoft.com/office/drawing/2014/main" id="{678F0D44-D7D8-F571-C3BA-F9150F995E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889" y="4501716"/>
            <a:ext cx="5544512" cy="1925178"/>
          </a:xfrm>
          <a:prstGeom prst="rect">
            <a:avLst/>
          </a:prstGeom>
        </p:spPr>
      </p:pic>
      <p:sp>
        <p:nvSpPr>
          <p:cNvPr id="38" name="Tekstfelt 37">
            <a:extLst>
              <a:ext uri="{FF2B5EF4-FFF2-40B4-BE49-F238E27FC236}">
                <a16:creationId xmlns:a16="http://schemas.microsoft.com/office/drawing/2014/main" id="{BBC80705-40B3-EE63-EE97-4581C73FA798}"/>
              </a:ext>
            </a:extLst>
          </p:cNvPr>
          <p:cNvSpPr txBox="1"/>
          <p:nvPr/>
        </p:nvSpPr>
        <p:spPr>
          <a:xfrm>
            <a:off x="2959100" y="533400"/>
            <a:ext cx="382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Krav &amp; opgave.</a:t>
            </a:r>
            <a:endParaRPr lang="es-E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Tekstfelt 39">
            <a:extLst>
              <a:ext uri="{FF2B5EF4-FFF2-40B4-BE49-F238E27FC236}">
                <a16:creationId xmlns:a16="http://schemas.microsoft.com/office/drawing/2014/main" id="{9FA7F7C1-C1AF-46D1-C10F-6ACF5C1C89E0}"/>
              </a:ext>
            </a:extLst>
          </p:cNvPr>
          <p:cNvSpPr txBox="1"/>
          <p:nvPr/>
        </p:nvSpPr>
        <p:spPr>
          <a:xfrm>
            <a:off x="2959100" y="1584912"/>
            <a:ext cx="3822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Fri opgave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Integration i workflow</a:t>
            </a:r>
          </a:p>
          <a:p>
            <a:pPr marL="285750" indent="-285750">
              <a:buFontTx/>
              <a:buChar char="-"/>
            </a:pPr>
            <a:r>
              <a:rPr lang="da-DK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Scrum</a:t>
            </a: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som hovedopgave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 møder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Refleksion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Ændringer</a:t>
            </a:r>
          </a:p>
        </p:txBody>
      </p:sp>
      <p:pic>
        <p:nvPicPr>
          <p:cNvPr id="42" name="Billede 41">
            <a:extLst>
              <a:ext uri="{FF2B5EF4-FFF2-40B4-BE49-F238E27FC236}">
                <a16:creationId xmlns:a16="http://schemas.microsoft.com/office/drawing/2014/main" id="{F623D7E4-3C84-2D51-AA88-2C19904ADC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4708">
            <a:off x="6146801" y="1208879"/>
            <a:ext cx="5327953" cy="1754326"/>
          </a:xfrm>
          <a:prstGeom prst="rect">
            <a:avLst/>
          </a:prstGeom>
        </p:spPr>
      </p:pic>
      <p:pic>
        <p:nvPicPr>
          <p:cNvPr id="44" name="Billede 43">
            <a:extLst>
              <a:ext uri="{FF2B5EF4-FFF2-40B4-BE49-F238E27FC236}">
                <a16:creationId xmlns:a16="http://schemas.microsoft.com/office/drawing/2014/main" id="{2279AB6D-D709-4E7C-51B4-3152BACED8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9054" y="4565669"/>
            <a:ext cx="2318734" cy="172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0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B6E5B-C35F-93A9-FE1A-823F5844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38040CA0-3480-199D-4E77-4C89164777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95154438-317B-8900-63E6-3EEBDE638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9B9AE985-A8DA-1465-CB39-65AB88619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9" y="0"/>
            <a:ext cx="4992461" cy="4216400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6FE7CBCD-E273-664E-15E9-7DF624632E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8" y="4146811"/>
            <a:ext cx="9386661" cy="2565401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3AF84572-B876-7B55-DDDA-3D71BBE4DD6D}"/>
              </a:ext>
            </a:extLst>
          </p:cNvPr>
          <p:cNvSpPr txBox="1"/>
          <p:nvPr/>
        </p:nvSpPr>
        <p:spPr>
          <a:xfrm>
            <a:off x="2959100" y="533400"/>
            <a:ext cx="382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Egne forventninger.</a:t>
            </a:r>
            <a:endParaRPr lang="es-E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869214B0-B920-BEED-E2E7-CFD7A4DBC941}"/>
              </a:ext>
            </a:extLst>
          </p:cNvPr>
          <p:cNvSpPr txBox="1"/>
          <p:nvPr/>
        </p:nvSpPr>
        <p:spPr>
          <a:xfrm>
            <a:off x="2959100" y="1584912"/>
            <a:ext cx="459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2-mandsgruppe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Kontrol &lt; Teamwork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Accept af alternative løsninger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Sprint 1 - (Sprint 0)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Ressource </a:t>
            </a:r>
            <a:r>
              <a:rPr lang="da-DK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tracking</a:t>
            </a: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a-DK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vs</a:t>
            </a: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vores idé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Ændring af kurs</a:t>
            </a:r>
          </a:p>
        </p:txBody>
      </p:sp>
      <p:pic>
        <p:nvPicPr>
          <p:cNvPr id="18" name="Billede 17">
            <a:extLst>
              <a:ext uri="{FF2B5EF4-FFF2-40B4-BE49-F238E27FC236}">
                <a16:creationId xmlns:a16="http://schemas.microsoft.com/office/drawing/2014/main" id="{B2860299-7AAC-042A-4661-A5310D389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01" y="145788"/>
            <a:ext cx="4394200" cy="4070612"/>
          </a:xfrm>
          <a:prstGeom prst="rect">
            <a:avLst/>
          </a:prstGeom>
        </p:spPr>
      </p:pic>
      <p:pic>
        <p:nvPicPr>
          <p:cNvPr id="23" name="Billede 22">
            <a:extLst>
              <a:ext uri="{FF2B5EF4-FFF2-40B4-BE49-F238E27FC236}">
                <a16:creationId xmlns:a16="http://schemas.microsoft.com/office/drawing/2014/main" id="{0A0DCB13-4541-141D-038A-CA9E51A66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427" y="937801"/>
            <a:ext cx="3848347" cy="2416998"/>
          </a:xfrm>
          <a:prstGeom prst="rect">
            <a:avLst/>
          </a:prstGeom>
        </p:spPr>
      </p:pic>
      <p:pic>
        <p:nvPicPr>
          <p:cNvPr id="27" name="Billede 26">
            <a:extLst>
              <a:ext uri="{FF2B5EF4-FFF2-40B4-BE49-F238E27FC236}">
                <a16:creationId xmlns:a16="http://schemas.microsoft.com/office/drawing/2014/main" id="{7F55187A-F2BB-7476-EAF0-E18F16B684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737" y="2961634"/>
            <a:ext cx="9556255" cy="477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0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9375D-5802-1A99-45BD-59511CFEE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66729C97-3707-012E-45CF-F5FFA1D065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323E1CAC-F56C-419F-66C1-E08EC844A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86281DD6-8805-C1CE-F359-A1BAF49197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9" y="145788"/>
            <a:ext cx="9488261" cy="4070612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637966E8-E7CE-3354-66A2-E15884361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9" y="4146811"/>
            <a:ext cx="9373961" cy="2565401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55D8F589-81E0-EE6E-FDF5-109A5D5E04B3}"/>
              </a:ext>
            </a:extLst>
          </p:cNvPr>
          <p:cNvSpPr txBox="1"/>
          <p:nvPr/>
        </p:nvSpPr>
        <p:spPr>
          <a:xfrm>
            <a:off x="2959100" y="533400"/>
            <a:ext cx="431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Gruppearbejde.</a:t>
            </a:r>
            <a:endParaRPr lang="es-E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56022F3E-A506-2788-BBFD-DB214B267723}"/>
              </a:ext>
            </a:extLst>
          </p:cNvPr>
          <p:cNvSpPr txBox="1"/>
          <p:nvPr/>
        </p:nvSpPr>
        <p:spPr>
          <a:xfrm>
            <a:off x="2959100" y="1584912"/>
            <a:ext cx="4559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bliver til 1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Svært alene</a:t>
            </a:r>
          </a:p>
          <a:p>
            <a:pPr marL="285750" indent="-285750">
              <a:buFontTx/>
              <a:buChar char="-"/>
            </a:pPr>
            <a:r>
              <a:rPr lang="da-DK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Scrum</a:t>
            </a: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&amp; læring &gt; produkt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Egne forventninger tager over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AIDA kursus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.agents/</a:t>
            </a:r>
            <a:r>
              <a:rPr lang="da-DK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skills</a:t>
            </a: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</a:p>
        </p:txBody>
      </p:sp>
      <p:pic>
        <p:nvPicPr>
          <p:cNvPr id="16" name="Billede 15">
            <a:extLst>
              <a:ext uri="{FF2B5EF4-FFF2-40B4-BE49-F238E27FC236}">
                <a16:creationId xmlns:a16="http://schemas.microsoft.com/office/drawing/2014/main" id="{9C7212AA-B51D-64B1-259B-B19D50964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283" y="4459227"/>
            <a:ext cx="6881471" cy="2010157"/>
          </a:xfrm>
          <a:prstGeom prst="rect">
            <a:avLst/>
          </a:prstGeom>
        </p:spPr>
      </p:pic>
      <p:sp>
        <p:nvSpPr>
          <p:cNvPr id="19" name="Tekstfelt 18">
            <a:extLst>
              <a:ext uri="{FF2B5EF4-FFF2-40B4-BE49-F238E27FC236}">
                <a16:creationId xmlns:a16="http://schemas.microsoft.com/office/drawing/2014/main" id="{01B96417-4ED2-95C9-0EBF-1094D535DF23}"/>
              </a:ext>
            </a:extLst>
          </p:cNvPr>
          <p:cNvSpPr txBox="1"/>
          <p:nvPr/>
        </p:nvSpPr>
        <p:spPr>
          <a:xfrm>
            <a:off x="11325224" y="402595"/>
            <a:ext cx="434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1/2</a:t>
            </a:r>
            <a:endParaRPr lang="es-ES" sz="11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63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81A4-1E43-929A-7316-F78E2996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9104D35E-529D-A1E4-04D4-F10170ADEB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C39E4406-F298-7EB1-6DBA-CDDABDEA4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63" y="766304"/>
            <a:ext cx="11548673" cy="5101096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F0B309F6-A112-F21F-B805-50933F379546}"/>
              </a:ext>
            </a:extLst>
          </p:cNvPr>
          <p:cNvSpPr txBox="1"/>
          <p:nvPr/>
        </p:nvSpPr>
        <p:spPr>
          <a:xfrm>
            <a:off x="11435361" y="252347"/>
            <a:ext cx="434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rgbClr val="E4DFD3"/>
                </a:solidFill>
              </a:rPr>
              <a:t>2/2</a:t>
            </a:r>
            <a:endParaRPr lang="es-ES" sz="1100" b="1" dirty="0">
              <a:solidFill>
                <a:srgbClr val="E4DF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51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8829-0C60-22F3-1827-810186AF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3E100277-B32B-B14F-C9EB-64F4885A48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DDBA56DD-C5BA-3A12-3971-D68A14E9D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62CA8F1E-6A4C-6E97-D92A-93941F1A4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9" y="145788"/>
            <a:ext cx="9488261" cy="4070612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AFDAF32A-A646-F4EC-4300-5FD5AD36A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939" y="4216399"/>
            <a:ext cx="2829849" cy="2495813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0863E349-F14F-EBE9-B075-DE49F7E9F23C}"/>
              </a:ext>
            </a:extLst>
          </p:cNvPr>
          <p:cNvSpPr txBox="1"/>
          <p:nvPr/>
        </p:nvSpPr>
        <p:spPr>
          <a:xfrm>
            <a:off x="2959100" y="533400"/>
            <a:ext cx="382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Scrum</a:t>
            </a:r>
            <a:r>
              <a:rPr lang="da-DK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s-E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E7A5B385-B7D9-1FCE-F2C9-8ED2D8C564A4}"/>
              </a:ext>
            </a:extLst>
          </p:cNvPr>
          <p:cNvSpPr txBox="1"/>
          <p:nvPr/>
        </p:nvSpPr>
        <p:spPr>
          <a:xfrm>
            <a:off x="2959100" y="1584912"/>
            <a:ext cx="64462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Planning poker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Story Points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37 timer / 2 fag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Har også en hverdag (tror jeg)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Sprint </a:t>
            </a:r>
            <a:r>
              <a:rPr lang="da-DK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Retrospective</a:t>
            </a: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danner grundlag for næste sprint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Martin Fowler</a:t>
            </a:r>
          </a:p>
          <a:p>
            <a:pPr marL="285750" indent="-285750">
              <a:buFontTx/>
              <a:buChar char="-"/>
            </a:pPr>
            <a:endParaRPr lang="da-DK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Billede 15">
            <a:extLst>
              <a:ext uri="{FF2B5EF4-FFF2-40B4-BE49-F238E27FC236}">
                <a16:creationId xmlns:a16="http://schemas.microsoft.com/office/drawing/2014/main" id="{1AD5852B-1B29-68A8-9C21-F012F8E346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18" y="4483766"/>
            <a:ext cx="1891489" cy="1891489"/>
          </a:xfrm>
          <a:prstGeom prst="rect">
            <a:avLst/>
          </a:prstGeom>
        </p:spPr>
      </p:pic>
      <p:pic>
        <p:nvPicPr>
          <p:cNvPr id="21" name="Billede 20">
            <a:extLst>
              <a:ext uri="{FF2B5EF4-FFF2-40B4-BE49-F238E27FC236}">
                <a16:creationId xmlns:a16="http://schemas.microsoft.com/office/drawing/2014/main" id="{7F67E56A-5DDD-B30D-7D44-D651181C8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739" y="4216399"/>
            <a:ext cx="2829849" cy="2495813"/>
          </a:xfrm>
          <a:prstGeom prst="rect">
            <a:avLst/>
          </a:prstGeom>
        </p:spPr>
      </p:pic>
      <p:pic>
        <p:nvPicPr>
          <p:cNvPr id="22" name="Billede 21">
            <a:extLst>
              <a:ext uri="{FF2B5EF4-FFF2-40B4-BE49-F238E27FC236}">
                <a16:creationId xmlns:a16="http://schemas.microsoft.com/office/drawing/2014/main" id="{B02A17DF-749D-6EC4-CCF5-C5DB1464DA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918" y="4483766"/>
            <a:ext cx="1891489" cy="1891489"/>
          </a:xfrm>
          <a:prstGeom prst="rect">
            <a:avLst/>
          </a:prstGeom>
        </p:spPr>
      </p:pic>
      <p:pic>
        <p:nvPicPr>
          <p:cNvPr id="24" name="Billede 23">
            <a:extLst>
              <a:ext uri="{FF2B5EF4-FFF2-40B4-BE49-F238E27FC236}">
                <a16:creationId xmlns:a16="http://schemas.microsoft.com/office/drawing/2014/main" id="{44B9B130-DE06-C66A-AD1C-714F23104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839" y="4216399"/>
            <a:ext cx="2829849" cy="2495813"/>
          </a:xfrm>
          <a:prstGeom prst="rect">
            <a:avLst/>
          </a:prstGeom>
        </p:spPr>
      </p:pic>
      <p:pic>
        <p:nvPicPr>
          <p:cNvPr id="26" name="Billede 25">
            <a:extLst>
              <a:ext uri="{FF2B5EF4-FFF2-40B4-BE49-F238E27FC236}">
                <a16:creationId xmlns:a16="http://schemas.microsoft.com/office/drawing/2014/main" id="{F6B64C9D-6340-F8B0-6B18-1C4EC38A72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262238" y="4483765"/>
            <a:ext cx="1891489" cy="1891489"/>
          </a:xfrm>
          <a:prstGeom prst="rect">
            <a:avLst/>
          </a:prstGeom>
        </p:spPr>
      </p:pic>
      <p:sp>
        <p:nvSpPr>
          <p:cNvPr id="28" name="Tekstfelt 27">
            <a:extLst>
              <a:ext uri="{FF2B5EF4-FFF2-40B4-BE49-F238E27FC236}">
                <a16:creationId xmlns:a16="http://schemas.microsoft.com/office/drawing/2014/main" id="{03A79739-B466-4286-54FA-4FE638ACF881}"/>
              </a:ext>
            </a:extLst>
          </p:cNvPr>
          <p:cNvSpPr txBox="1"/>
          <p:nvPr/>
        </p:nvSpPr>
        <p:spPr>
          <a:xfrm>
            <a:off x="11325224" y="402595"/>
            <a:ext cx="434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1/3</a:t>
            </a:r>
            <a:endParaRPr lang="es-ES" sz="11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662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9E96-00F0-04E7-6963-B58B5E407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5CD259BD-A9C0-703F-FFF7-2AFDC5D7E9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C86E30C8-044F-3A7E-6166-6C0719048792}"/>
              </a:ext>
            </a:extLst>
          </p:cNvPr>
          <p:cNvSpPr txBox="1"/>
          <p:nvPr/>
        </p:nvSpPr>
        <p:spPr>
          <a:xfrm>
            <a:off x="11435361" y="252347"/>
            <a:ext cx="434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rgbClr val="E4DFD3"/>
                </a:solidFill>
              </a:rPr>
              <a:t>2/3</a:t>
            </a:r>
            <a:endParaRPr lang="es-ES" sz="1100" b="1" dirty="0">
              <a:solidFill>
                <a:srgbClr val="E4DFD3"/>
              </a:solidFill>
            </a:endParaRP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3EBEBA95-1DC8-FB5E-E5F3-D4FCE7960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4" y="2087104"/>
            <a:ext cx="10993384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9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ED2E3-F63C-DE58-993B-CE49583E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59BB51D-A624-CF65-445E-C8BD7DE300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24ABF25-6BDD-8197-7528-860DDE4199AE}"/>
              </a:ext>
            </a:extLst>
          </p:cNvPr>
          <p:cNvSpPr txBox="1"/>
          <p:nvPr/>
        </p:nvSpPr>
        <p:spPr>
          <a:xfrm>
            <a:off x="11435361" y="252347"/>
            <a:ext cx="434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rgbClr val="E4DFD3"/>
                </a:solidFill>
              </a:rPr>
              <a:t>3/3</a:t>
            </a:r>
            <a:endParaRPr lang="es-ES" sz="1100" b="1" dirty="0">
              <a:solidFill>
                <a:srgbClr val="E4DFD3"/>
              </a:solidFill>
            </a:endParaRP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BA5D4156-1891-2A8B-AA9F-F9576FEB0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09" y="860917"/>
            <a:ext cx="10607181" cy="2987938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7388BC28-E9E2-3C84-E33D-DF9ABB731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08" y="4356856"/>
            <a:ext cx="10566033" cy="203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75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FA9A-6589-6B50-4BAD-FF51C933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1D9E320D-C346-E12A-CA64-8A999CDD85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33A3D170-F987-8F14-46AC-ABD3EF02F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E74FBFAA-5992-A857-0D96-58E6E89F9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9" y="145788"/>
            <a:ext cx="9488261" cy="4070612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0E1C1B9F-CB88-0C1B-5C18-DD39889D6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939" y="4216399"/>
            <a:ext cx="2829849" cy="2495813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9AEE4528-05D4-1A64-12FA-ED1459FA0B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788" y="4146811"/>
            <a:ext cx="6446212" cy="2565401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16C300C9-1DC5-5F4B-A7A1-55C3855C920A}"/>
              </a:ext>
            </a:extLst>
          </p:cNvPr>
          <p:cNvSpPr txBox="1"/>
          <p:nvPr/>
        </p:nvSpPr>
        <p:spPr>
          <a:xfrm>
            <a:off x="2959100" y="533400"/>
            <a:ext cx="382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 møder.</a:t>
            </a:r>
            <a:endParaRPr lang="es-E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02D6A988-E0DC-5F4A-AACD-1151D8130E73}"/>
              </a:ext>
            </a:extLst>
          </p:cNvPr>
          <p:cNvSpPr txBox="1"/>
          <p:nvPr/>
        </p:nvSpPr>
        <p:spPr>
          <a:xfrm>
            <a:off x="2959099" y="1584912"/>
            <a:ext cx="66688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Professionel tilgang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Hvem betaler?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Læring og justering herefter</a:t>
            </a:r>
          </a:p>
          <a:p>
            <a:pPr marL="285750" indent="-285750">
              <a:buFontTx/>
              <a:buChar char="-"/>
            </a:pPr>
            <a:r>
              <a:rPr lang="da-DK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Testability</a:t>
            </a:r>
            <a:endParaRPr lang="da-DK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Funktionelt krav eller ikke?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Dybere forståelse for hvad en User Story burde indeholde.</a:t>
            </a:r>
          </a:p>
        </p:txBody>
      </p:sp>
      <p:pic>
        <p:nvPicPr>
          <p:cNvPr id="18" name="Billede 17">
            <a:extLst>
              <a:ext uri="{FF2B5EF4-FFF2-40B4-BE49-F238E27FC236}">
                <a16:creationId xmlns:a16="http://schemas.microsoft.com/office/drawing/2014/main" id="{A1409DFA-F285-C682-BB90-EA5118DC1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6168" y="4362188"/>
            <a:ext cx="2301620" cy="2149372"/>
          </a:xfrm>
          <a:prstGeom prst="rect">
            <a:avLst/>
          </a:prstGeom>
        </p:spPr>
      </p:pic>
      <p:sp>
        <p:nvSpPr>
          <p:cNvPr id="20" name="Tekstfelt 19">
            <a:extLst>
              <a:ext uri="{FF2B5EF4-FFF2-40B4-BE49-F238E27FC236}">
                <a16:creationId xmlns:a16="http://schemas.microsoft.com/office/drawing/2014/main" id="{29D9D765-8C7E-E0BE-B776-1B14C5BF91B6}"/>
              </a:ext>
            </a:extLst>
          </p:cNvPr>
          <p:cNvSpPr txBox="1"/>
          <p:nvPr/>
        </p:nvSpPr>
        <p:spPr>
          <a:xfrm>
            <a:off x="5842000" y="4470314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Tine</a:t>
            </a:r>
          </a:p>
          <a:p>
            <a:pPr marL="285750" indent="-285750">
              <a:buFontTx/>
              <a:buChar char="-"/>
            </a:pPr>
            <a:endParaRPr lang="da-DK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a-DK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Lærer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Agerer PO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Feedback i form af PO men også som lærer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1DA01A29-2562-8487-6718-0E0E8876D74D}"/>
              </a:ext>
            </a:extLst>
          </p:cNvPr>
          <p:cNvSpPr txBox="1"/>
          <p:nvPr/>
        </p:nvSpPr>
        <p:spPr>
          <a:xfrm>
            <a:off x="11325224" y="402595"/>
            <a:ext cx="434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1/3</a:t>
            </a:r>
            <a:endParaRPr lang="es-ES" sz="11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259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FC1E-A362-2BFF-DE29-63EAED96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6B045B80-1469-BD14-5C7D-3CD13ED08B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9ECAAA0-39C4-F1FF-158C-8A52EB757015}"/>
              </a:ext>
            </a:extLst>
          </p:cNvPr>
          <p:cNvSpPr txBox="1"/>
          <p:nvPr/>
        </p:nvSpPr>
        <p:spPr>
          <a:xfrm>
            <a:off x="11435361" y="252347"/>
            <a:ext cx="434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b="1" dirty="0">
                <a:solidFill>
                  <a:srgbClr val="E4DFD3"/>
                </a:solidFill>
              </a:rPr>
              <a:t>2/2</a:t>
            </a:r>
            <a:endParaRPr lang="es-ES" sz="1100" b="1" dirty="0">
              <a:solidFill>
                <a:srgbClr val="E4DFD3"/>
              </a:solidFill>
            </a:endParaRP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F36C92DC-12FC-C9B9-6E76-B7E4978CC72A}"/>
              </a:ext>
            </a:extLst>
          </p:cNvPr>
          <p:cNvSpPr txBox="1"/>
          <p:nvPr/>
        </p:nvSpPr>
        <p:spPr>
          <a:xfrm>
            <a:off x="431225" y="313902"/>
            <a:ext cx="489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rgbClr val="E4DFD3"/>
                </a:solidFill>
              </a:rPr>
              <a:t>US-04 – </a:t>
            </a:r>
            <a:r>
              <a:rPr lang="da-DK" sz="2000" b="1" dirty="0" err="1">
                <a:solidFill>
                  <a:srgbClr val="E4DFD3"/>
                </a:solidFill>
              </a:rPr>
              <a:t>Role</a:t>
            </a:r>
            <a:r>
              <a:rPr lang="da-DK" sz="2000" b="1" dirty="0">
                <a:solidFill>
                  <a:srgbClr val="E4DFD3"/>
                </a:solidFill>
              </a:rPr>
              <a:t> </a:t>
            </a:r>
            <a:r>
              <a:rPr lang="da-DK" sz="2000" b="1" dirty="0" err="1">
                <a:solidFill>
                  <a:srgbClr val="E4DFD3"/>
                </a:solidFill>
              </a:rPr>
              <a:t>Based</a:t>
            </a:r>
            <a:r>
              <a:rPr lang="da-DK" sz="2000" b="1" dirty="0">
                <a:solidFill>
                  <a:srgbClr val="E4DFD3"/>
                </a:solidFill>
              </a:rPr>
              <a:t> Access</a:t>
            </a:r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8ABAF8CD-E1E5-75A6-EA89-88CD3BA40F1E}"/>
              </a:ext>
            </a:extLst>
          </p:cNvPr>
          <p:cNvSpPr txBox="1"/>
          <p:nvPr/>
        </p:nvSpPr>
        <p:spPr>
          <a:xfrm>
            <a:off x="431223" y="3028890"/>
            <a:ext cx="599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rgbClr val="E4DFD3"/>
                </a:solidFill>
              </a:rPr>
              <a:t>US-11 Reset </a:t>
            </a:r>
            <a:r>
              <a:rPr lang="da-DK" sz="2000" b="1" dirty="0" err="1">
                <a:solidFill>
                  <a:srgbClr val="E4DFD3"/>
                </a:solidFill>
              </a:rPr>
              <a:t>forgotten</a:t>
            </a:r>
            <a:r>
              <a:rPr lang="da-DK" sz="2000" b="1" dirty="0">
                <a:solidFill>
                  <a:srgbClr val="E4DFD3"/>
                </a:solidFill>
              </a:rPr>
              <a:t> password</a:t>
            </a:r>
            <a:endParaRPr lang="es-ES" sz="2000" b="1" dirty="0">
              <a:solidFill>
                <a:srgbClr val="E4DFD3"/>
              </a:solidFill>
            </a:endParaRPr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4E0D0BBF-49FC-871A-3788-705DC86AEF5C}"/>
              </a:ext>
            </a:extLst>
          </p:cNvPr>
          <p:cNvSpPr txBox="1"/>
          <p:nvPr/>
        </p:nvSpPr>
        <p:spPr>
          <a:xfrm>
            <a:off x="431224" y="932733"/>
            <a:ext cx="48900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i="1" dirty="0">
                <a:solidFill>
                  <a:srgbClr val="E4DFD3"/>
                </a:solidFill>
              </a:rPr>
              <a:t>Decision </a:t>
            </a:r>
            <a:r>
              <a:rPr lang="da-DK" sz="1600" b="1" i="1" dirty="0" err="1">
                <a:solidFill>
                  <a:srgbClr val="E4DFD3"/>
                </a:solidFill>
              </a:rPr>
              <a:t>Table</a:t>
            </a:r>
            <a:endParaRPr lang="da-DK" sz="1600" b="1" dirty="0">
              <a:solidFill>
                <a:srgbClr val="E4DFD3"/>
              </a:solidFill>
            </a:endParaRPr>
          </a:p>
          <a:p>
            <a:pPr marL="285750" indent="-285750">
              <a:buFontTx/>
              <a:buChar char="-"/>
            </a:pPr>
            <a:endParaRPr lang="da-DK" sz="1600" b="1" dirty="0">
              <a:solidFill>
                <a:srgbClr val="E4DFD3"/>
              </a:solidFill>
            </a:endParaRPr>
          </a:p>
          <a:p>
            <a:pPr marL="285750" indent="-285750">
              <a:buFontTx/>
              <a:buChar char="-"/>
            </a:pPr>
            <a:r>
              <a:rPr lang="da-DK" sz="1600" b="1" dirty="0">
                <a:solidFill>
                  <a:srgbClr val="E4DFD3"/>
                </a:solidFill>
              </a:rPr>
              <a:t>Adgang?</a:t>
            </a:r>
          </a:p>
          <a:p>
            <a:pPr marL="285750" indent="-285750">
              <a:buFontTx/>
              <a:buChar char="-"/>
            </a:pPr>
            <a:r>
              <a:rPr lang="da-DK" sz="1600" b="1" dirty="0">
                <a:solidFill>
                  <a:srgbClr val="E4DFD3"/>
                </a:solidFill>
              </a:rPr>
              <a:t>Hvem?</a:t>
            </a:r>
          </a:p>
          <a:p>
            <a:pPr marL="285750" indent="-285750">
              <a:buFontTx/>
              <a:buChar char="-"/>
            </a:pPr>
            <a:r>
              <a:rPr lang="da-DK" sz="1600" b="1" dirty="0">
                <a:solidFill>
                  <a:srgbClr val="E4DFD3"/>
                </a:solidFill>
              </a:rPr>
              <a:t>Hvilke handlinger?</a:t>
            </a:r>
          </a:p>
          <a:p>
            <a:pPr marL="285750" indent="-285750">
              <a:buFontTx/>
              <a:buChar char="-"/>
            </a:pPr>
            <a:r>
              <a:rPr lang="da-DK" sz="1600" b="1" dirty="0">
                <a:solidFill>
                  <a:srgbClr val="E4DFD3"/>
                </a:solidFill>
              </a:rPr>
              <a:t>Osv.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747D3AD1-8AF7-1748-F71A-734275DD1322}"/>
              </a:ext>
            </a:extLst>
          </p:cNvPr>
          <p:cNvSpPr txBox="1"/>
          <p:nvPr/>
        </p:nvSpPr>
        <p:spPr>
          <a:xfrm>
            <a:off x="431223" y="3647721"/>
            <a:ext cx="50932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i="1" dirty="0" err="1">
                <a:solidFill>
                  <a:srgbClr val="E4DFD3"/>
                </a:solidFill>
              </a:rPr>
              <a:t>Equivalence</a:t>
            </a:r>
            <a:r>
              <a:rPr lang="da-DK" sz="1600" b="1" i="1" dirty="0">
                <a:solidFill>
                  <a:srgbClr val="E4DFD3"/>
                </a:solidFill>
              </a:rPr>
              <a:t> </a:t>
            </a:r>
            <a:r>
              <a:rPr lang="da-DK" sz="1600" b="1" i="1" dirty="0" err="1">
                <a:solidFill>
                  <a:srgbClr val="E4DFD3"/>
                </a:solidFill>
              </a:rPr>
              <a:t>Partitioning</a:t>
            </a:r>
            <a:r>
              <a:rPr lang="da-DK" sz="1600" b="1" i="1" dirty="0">
                <a:solidFill>
                  <a:srgbClr val="E4DFD3"/>
                </a:solidFill>
              </a:rPr>
              <a:t> &amp; </a:t>
            </a:r>
            <a:r>
              <a:rPr lang="da-DK" sz="1600" b="1" i="1" dirty="0" err="1">
                <a:solidFill>
                  <a:srgbClr val="E4DFD3"/>
                </a:solidFill>
              </a:rPr>
              <a:t>Boundary</a:t>
            </a:r>
            <a:r>
              <a:rPr lang="da-DK" sz="1600" b="1" i="1" dirty="0">
                <a:solidFill>
                  <a:srgbClr val="E4DFD3"/>
                </a:solidFill>
              </a:rPr>
              <a:t> Value Analysis</a:t>
            </a:r>
          </a:p>
          <a:p>
            <a:endParaRPr lang="da-DK" sz="1600" b="1" dirty="0">
              <a:solidFill>
                <a:srgbClr val="E4DFD3"/>
              </a:solidFill>
            </a:endParaRPr>
          </a:p>
          <a:p>
            <a:pPr marL="285750" indent="-285750">
              <a:buFontTx/>
              <a:buChar char="-"/>
            </a:pPr>
            <a:r>
              <a:rPr lang="da-DK" sz="1600" b="1" dirty="0">
                <a:solidFill>
                  <a:srgbClr val="E4DFD3"/>
                </a:solidFill>
              </a:rPr>
              <a:t>Hvornår skal den fejle?</a:t>
            </a:r>
          </a:p>
          <a:p>
            <a:pPr marL="285750" indent="-285750">
              <a:buFontTx/>
              <a:buChar char="-"/>
            </a:pPr>
            <a:r>
              <a:rPr lang="da-DK" sz="1600" b="1" dirty="0">
                <a:solidFill>
                  <a:srgbClr val="E4DFD3"/>
                </a:solidFill>
              </a:rPr>
              <a:t>Hvad accepteres?</a:t>
            </a:r>
          </a:p>
          <a:p>
            <a:pPr marL="285750" indent="-285750">
              <a:buFontTx/>
              <a:buChar char="-"/>
            </a:pPr>
            <a:r>
              <a:rPr lang="da-DK" sz="1600" b="1" dirty="0">
                <a:solidFill>
                  <a:srgbClr val="E4DFD3"/>
                </a:solidFill>
              </a:rPr>
              <a:t>Hvad skal vi forvente af resultat af handlingen?</a:t>
            </a:r>
          </a:p>
          <a:p>
            <a:pPr marL="285750" indent="-285750">
              <a:buFontTx/>
              <a:buChar char="-"/>
            </a:pPr>
            <a:r>
              <a:rPr lang="da-DK" sz="1600" b="1" dirty="0">
                <a:solidFill>
                  <a:srgbClr val="E4DFD3"/>
                </a:solidFill>
              </a:rPr>
              <a:t>Test data</a:t>
            </a:r>
          </a:p>
          <a:p>
            <a:pPr marL="285750" indent="-285750">
              <a:buFontTx/>
              <a:buChar char="-"/>
            </a:pPr>
            <a:r>
              <a:rPr lang="da-DK" sz="1600" b="1" dirty="0">
                <a:solidFill>
                  <a:srgbClr val="E4DFD3"/>
                </a:solidFill>
              </a:rPr>
              <a:t>Test Scenario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72B3FB5B-8823-CD36-59D6-1AAE07B38FDC}"/>
              </a:ext>
            </a:extLst>
          </p:cNvPr>
          <p:cNvSpPr txBox="1"/>
          <p:nvPr/>
        </p:nvSpPr>
        <p:spPr>
          <a:xfrm>
            <a:off x="7772400" y="5589990"/>
            <a:ext cx="421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i="1" dirty="0">
                <a:solidFill>
                  <a:srgbClr val="E4DFD3"/>
                </a:solidFill>
              </a:rPr>
              <a:t>Kan give en bedre forståelse for tests samt </a:t>
            </a:r>
            <a:r>
              <a:rPr lang="da-DK" sz="2000" b="1" i="1" dirty="0" err="1">
                <a:solidFill>
                  <a:srgbClr val="E4DFD3"/>
                </a:solidFill>
              </a:rPr>
              <a:t>testability</a:t>
            </a:r>
            <a:r>
              <a:rPr lang="da-DK" sz="2000" b="1" i="1" dirty="0">
                <a:solidFill>
                  <a:srgbClr val="E4DFD3"/>
                </a:solidFill>
              </a:rPr>
              <a:t> af koden når tests skal skrives.</a:t>
            </a:r>
          </a:p>
        </p:txBody>
      </p:sp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15B6037A-5E92-944F-97E2-53644C738E10}"/>
              </a:ext>
            </a:extLst>
          </p:cNvPr>
          <p:cNvCxnSpPr>
            <a:cxnSpLocks/>
          </p:cNvCxnSpPr>
          <p:nvPr/>
        </p:nvCxnSpPr>
        <p:spPr>
          <a:xfrm>
            <a:off x="5955723" y="4343400"/>
            <a:ext cx="1816677" cy="1246590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Lige forbindelse 28">
            <a:extLst>
              <a:ext uri="{FF2B5EF4-FFF2-40B4-BE49-F238E27FC236}">
                <a16:creationId xmlns:a16="http://schemas.microsoft.com/office/drawing/2014/main" id="{74E779D8-C421-0646-172D-925A9952803C}"/>
              </a:ext>
            </a:extLst>
          </p:cNvPr>
          <p:cNvCxnSpPr/>
          <p:nvPr/>
        </p:nvCxnSpPr>
        <p:spPr>
          <a:xfrm flipV="1">
            <a:off x="5955723" y="1092200"/>
            <a:ext cx="0" cy="325120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95347E53-5118-702D-36DD-6D8A192D9406}"/>
              </a:ext>
            </a:extLst>
          </p:cNvPr>
          <p:cNvCxnSpPr>
            <a:cxnSpLocks/>
          </p:cNvCxnSpPr>
          <p:nvPr/>
        </p:nvCxnSpPr>
        <p:spPr>
          <a:xfrm>
            <a:off x="4089400" y="1092200"/>
            <a:ext cx="1866323" cy="0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Lige pilforbindelse 32">
            <a:extLst>
              <a:ext uri="{FF2B5EF4-FFF2-40B4-BE49-F238E27FC236}">
                <a16:creationId xmlns:a16="http://schemas.microsoft.com/office/drawing/2014/main" id="{4D7CD0C8-EBE6-F44C-B334-BABE50F1A23D}"/>
              </a:ext>
            </a:extLst>
          </p:cNvPr>
          <p:cNvCxnSpPr>
            <a:cxnSpLocks/>
          </p:cNvCxnSpPr>
          <p:nvPr/>
        </p:nvCxnSpPr>
        <p:spPr>
          <a:xfrm>
            <a:off x="5162838" y="3429000"/>
            <a:ext cx="792885" cy="0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523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07347-7A65-88BB-0E8F-CA3CF26DB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7C0F899C-152D-369F-1782-C9368E9871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4B7FDD8B-B6CF-C66B-3B53-484FC17D3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1234D14D-FDCD-3A2B-FF74-3B12C05E4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9" y="145788"/>
            <a:ext cx="9488261" cy="4070612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F5DDBCB9-C191-1468-ABCB-C7840E6FD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939" y="4216399"/>
            <a:ext cx="2829849" cy="2495813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A59785DC-6435-EEAE-EF54-7CED8B7489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788" y="4146811"/>
            <a:ext cx="6446212" cy="2565401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FF9EC396-0E29-324F-5342-F28141EE3298}"/>
              </a:ext>
            </a:extLst>
          </p:cNvPr>
          <p:cNvSpPr txBox="1"/>
          <p:nvPr/>
        </p:nvSpPr>
        <p:spPr>
          <a:xfrm>
            <a:off x="2959100" y="533400"/>
            <a:ext cx="382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Reflektion.</a:t>
            </a:r>
            <a:endParaRPr lang="es-E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E294127A-CDF9-8119-D302-2898A4858DB8}"/>
              </a:ext>
            </a:extLst>
          </p:cNvPr>
          <p:cNvSpPr txBox="1"/>
          <p:nvPr/>
        </p:nvSpPr>
        <p:spPr>
          <a:xfrm>
            <a:off x="2959100" y="1584912"/>
            <a:ext cx="5067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Lært så meget jeg har kunne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Justeret til hvor nødvendigt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Oprettet </a:t>
            </a:r>
            <a:r>
              <a:rPr lang="da-DK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custom</a:t>
            </a: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a-DK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skills</a:t>
            </a: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efter behov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Nået i mål? Ikke helt.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Unit &amp; Integrationstests burde være bedre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er OK, men ikke helt tilfreds.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Opgaven fuldført</a:t>
            </a:r>
          </a:p>
        </p:txBody>
      </p:sp>
      <p:pic>
        <p:nvPicPr>
          <p:cNvPr id="18" name="Billede 17">
            <a:extLst>
              <a:ext uri="{FF2B5EF4-FFF2-40B4-BE49-F238E27FC236}">
                <a16:creationId xmlns:a16="http://schemas.microsoft.com/office/drawing/2014/main" id="{80AD95BA-D036-46D7-7C5C-23ADB0CD93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412" y="4448643"/>
            <a:ext cx="2045004" cy="2031325"/>
          </a:xfrm>
          <a:prstGeom prst="rect">
            <a:avLst/>
          </a:prstGeom>
        </p:spPr>
      </p:pic>
      <p:sp>
        <p:nvSpPr>
          <p:cNvPr id="20" name="Tekstfelt 19">
            <a:extLst>
              <a:ext uri="{FF2B5EF4-FFF2-40B4-BE49-F238E27FC236}">
                <a16:creationId xmlns:a16="http://schemas.microsoft.com/office/drawing/2014/main" id="{66A08999-BD91-D8E7-4FB1-EE08E9340581}"/>
              </a:ext>
            </a:extLst>
          </p:cNvPr>
          <p:cNvSpPr txBox="1"/>
          <p:nvPr/>
        </p:nvSpPr>
        <p:spPr>
          <a:xfrm>
            <a:off x="6803544" y="5202696"/>
            <a:ext cx="382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”If it </a:t>
            </a:r>
            <a:r>
              <a:rPr lang="da-DK" sz="28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works</a:t>
            </a:r>
            <a:r>
              <a:rPr lang="da-DK" sz="28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it </a:t>
            </a:r>
            <a:r>
              <a:rPr lang="da-DK" sz="28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works</a:t>
            </a:r>
            <a:r>
              <a:rPr lang="da-DK" sz="28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</a:t>
            </a:r>
            <a:endParaRPr lang="es-ES" sz="28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408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09AB8-E084-D2B4-3E0D-D5D0B5C9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179E7434-484A-1A08-D8D2-4461058C5D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78C88F85-7EF7-FEF4-5F41-CC394FFD1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D4AFFA2F-0728-F503-F947-6BCAFC7C9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9" y="145788"/>
            <a:ext cx="9488261" cy="4070612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5C4D0039-F4D8-FB53-9B0E-7E286CCA7152}"/>
              </a:ext>
            </a:extLst>
          </p:cNvPr>
          <p:cNvSpPr txBox="1"/>
          <p:nvPr/>
        </p:nvSpPr>
        <p:spPr>
          <a:xfrm>
            <a:off x="2959100" y="533400"/>
            <a:ext cx="382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Konklusion.</a:t>
            </a:r>
            <a:endParaRPr lang="es-E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8" name="Billede 17">
            <a:extLst>
              <a:ext uri="{FF2B5EF4-FFF2-40B4-BE49-F238E27FC236}">
                <a16:creationId xmlns:a16="http://schemas.microsoft.com/office/drawing/2014/main" id="{4133F1DE-B2FB-CF02-2AD5-34BD144D2D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39" y="4146811"/>
            <a:ext cx="9373961" cy="2565401"/>
          </a:xfrm>
          <a:prstGeom prst="rect">
            <a:avLst/>
          </a:prstGeom>
        </p:spPr>
      </p:pic>
      <p:sp>
        <p:nvSpPr>
          <p:cNvPr id="20" name="Tekstfelt 19">
            <a:extLst>
              <a:ext uri="{FF2B5EF4-FFF2-40B4-BE49-F238E27FC236}">
                <a16:creationId xmlns:a16="http://schemas.microsoft.com/office/drawing/2014/main" id="{28EEA3B9-A394-C980-E811-48A4C7AEE3F1}"/>
              </a:ext>
            </a:extLst>
          </p:cNvPr>
          <p:cNvSpPr txBox="1"/>
          <p:nvPr/>
        </p:nvSpPr>
        <p:spPr>
          <a:xfrm>
            <a:off x="6261100" y="5167901"/>
            <a:ext cx="382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 demo</a:t>
            </a:r>
            <a:endParaRPr lang="es-E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40B45978-3746-121E-94D1-17133E441572}"/>
              </a:ext>
            </a:extLst>
          </p:cNvPr>
          <p:cNvSpPr txBox="1"/>
          <p:nvPr/>
        </p:nvSpPr>
        <p:spPr>
          <a:xfrm>
            <a:off x="2959099" y="1584912"/>
            <a:ext cx="6668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Okay tilfreds med indsats</a:t>
            </a:r>
          </a:p>
          <a:p>
            <a:pPr marL="285750" indent="-285750">
              <a:buFontTx/>
              <a:buChar char="-"/>
            </a:pPr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Klart det kunne være bedre</a:t>
            </a:r>
          </a:p>
        </p:txBody>
      </p:sp>
    </p:spTree>
    <p:extLst>
      <p:ext uri="{BB962C8B-B14F-4D97-AF65-F5344CB8AC3E}">
        <p14:creationId xmlns:p14="http://schemas.microsoft.com/office/powerpoint/2010/main" val="237434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267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Larsen</dc:creator>
  <cp:lastModifiedBy>Jonas Larsen</cp:lastModifiedBy>
  <cp:revision>19</cp:revision>
  <dcterms:created xsi:type="dcterms:W3CDTF">2026-10-26T18:06:22Z</dcterms:created>
  <dcterms:modified xsi:type="dcterms:W3CDTF">2026-10-26T19:54:52Z</dcterms:modified>
</cp:coreProperties>
</file>